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796F"/>
                </a:solidFill>
                <a:latin typeface="Arial"/>
              </a:rPr>
              <a:t>AI Meeting Detective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182025"/>
                </a:solidFill>
                <a:latin typeface="Arial"/>
              </a:rPr>
              <a:t>TalkWeaver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29968"/>
            <a:ext cx="10424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82025"/>
                </a:solidFill>
                <a:latin typeface="Arial"/>
              </a:rPr>
              <a:t>把混乱多人语音变成可审计的对话证据地图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8656E"/>
                </a:solidFill>
                <a:latin typeface="Arial"/>
              </a:rPr>
              <a:t>Evidence-grounded conversation maps for overlap, interruptions, misheard terms, and correction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023360"/>
            <a:ext cx="3154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4023360"/>
            <a:ext cx="73152" cy="91440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415137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网页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51713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https://fyangmie-talkweaver.hf.space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4023360"/>
            <a:ext cx="3154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4023360"/>
            <a:ext cx="73152" cy="91440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415137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主展示样本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451713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Earnings-22 多说话人术语修正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4023360"/>
            <a:ext cx="3154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71231" y="4023360"/>
            <a:ext cx="73152" cy="9144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15137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项目定位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51713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不是会议纪要系统，而是证据审计框架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025"/>
                </a:solidFill>
                <a:latin typeface="Arial"/>
              </a:rPr>
              <a:t>研究动机：会议转写不是只看 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多人、重叠、低能量语音、专有词和 LLM 后处理会共同放大错误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普通 ASR 输出通常是一段“看起来流畅”的文本，但用户不知道哪里不可靠。</a:t>
            </a:r>
          </a:p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多人会议里，关键问题不是只识别文字，还包括谁说的、何时说的、是否重叠、哪些词被误听。</a:t>
            </a:r>
          </a:p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LLM 后处理如果没有证据约束，可能把不确定内容改得更自然，却更不真实。</a:t>
            </a:r>
          </a:p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TalkWeaver 的核心假设：混乱会议转写应被当作 evidence-grounded auditing problem。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920240"/>
            <a:ext cx="73152" cy="96012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20482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FLEURS zh-CN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41401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2311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0796F"/>
                </a:solidFill>
                <a:latin typeface="Arial"/>
              </a:rPr>
              <a:t>CER 0.113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57860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read speech, 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92024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1920240"/>
            <a:ext cx="73152" cy="960120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5168" y="20482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AISHELL-4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241401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8" y="22311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B23B3B"/>
                </a:solidFill>
                <a:latin typeface="Arial"/>
              </a:rPr>
              <a:t>CER 0.537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257860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meeting speech, 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4612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46120"/>
            <a:ext cx="73152" cy="9601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37413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73989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55701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B7791F"/>
                </a:solidFill>
                <a:latin typeface="Arial"/>
              </a:rPr>
              <a:t>WER 0.398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904487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formal meeting, 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324612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3246120"/>
            <a:ext cx="73152" cy="96012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337413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373989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355701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F6F8F"/>
                </a:solidFill>
                <a:latin typeface="Arial"/>
              </a:rPr>
              <a:t>读句子 ≠ 会议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3904487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需要证据地图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025"/>
                </a:solidFill>
                <a:latin typeface="Arial"/>
              </a:rPr>
              <a:t>研究问题与贡献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从“自动改文本”转向“带证据地组织、修正、审计文本”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73152" cy="123444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14016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说话人/时间结构能否让 transcript 更可审计？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92024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920240"/>
            <a:ext cx="73152" cy="123444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204825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414016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overlap-aware uncertainty 能否降低不安全修正？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92024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920240"/>
            <a:ext cx="73152" cy="123444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4825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414016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RAG glossary 能否恢复专业词和公司名？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192024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1920240"/>
            <a:ext cx="73152" cy="1234440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20482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RQ4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414016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本地 ASR 有何速度/质量权衡？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749039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贡献 1：Temporal-anchor ConversationMap，统一 ASR、speaker、time、overlap、retrieved terms、audit。</a:t>
            </a:r>
          </a:p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贡献 2：Conservative RAG-based term recovery，只在证据足够时修正，弱证据进入 review。</a:t>
            </a:r>
          </a:p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贡献 3：Safety analysis，区分真实公开数据、controlled stress-test、mock/demo 和负结果。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025"/>
                </a:solidFill>
                <a:latin typeface="Arial"/>
              </a:rPr>
              <a:t>系统架构：从音频到 EvidenceMap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每一步都保留输入、输出和证据来源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4983480" cy="19653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1874519"/>
            <a:ext cx="53035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650">
                <a:solidFill>
                  <a:srgbClr val="182025"/>
                </a:solidFill>
                <a:latin typeface="Arial"/>
              </a:defRPr>
            </a:pPr>
            <a:r>
              <a:t>Audio preprocessing：统一采样率、声道和音量。</a:t>
            </a:r>
          </a:p>
          <a:p>
            <a:pPr>
              <a:spcAft>
                <a:spcPts val="240"/>
              </a:spcAft>
              <a:defRPr sz="1650">
                <a:solidFill>
                  <a:srgbClr val="182025"/>
                </a:solidFill>
                <a:latin typeface="Arial"/>
              </a:defRPr>
            </a:pPr>
            <a:r>
              <a:t>ASR：faster-whisper / whisper.cpp / mock fallback。</a:t>
            </a:r>
          </a:p>
          <a:p>
            <a:pPr>
              <a:spcAft>
                <a:spcPts val="240"/>
              </a:spcAft>
              <a:defRPr sz="1650">
                <a:solidFill>
                  <a:srgbClr val="182025"/>
                </a:solidFill>
                <a:latin typeface="Arial"/>
              </a:defRPr>
            </a:pPr>
            <a:r>
              <a:t>Diarization：pyannote 或 reference speaker-time evidence。</a:t>
            </a:r>
          </a:p>
          <a:p>
            <a:pPr>
              <a:spcAft>
                <a:spcPts val="240"/>
              </a:spcAft>
              <a:defRPr sz="1650">
                <a:solidFill>
                  <a:srgbClr val="182025"/>
                </a:solidFill>
                <a:latin typeface="Arial"/>
              </a:defRPr>
            </a:pPr>
            <a:r>
              <a:t>Overlap &amp; event extraction：标出重叠、打断候选、低置信度区域。</a:t>
            </a:r>
          </a:p>
          <a:p>
            <a:pPr>
              <a:spcAft>
                <a:spcPts val="240"/>
              </a:spcAft>
              <a:defRPr sz="1650">
                <a:solidFill>
                  <a:srgbClr val="182025"/>
                </a:solidFill>
                <a:latin typeface="Arial"/>
              </a:defRPr>
            </a:pPr>
            <a:r>
              <a:t>RAG term rescue：检索专业词、公司名、财经术语。</a:t>
            </a:r>
          </a:p>
          <a:p>
            <a:pPr>
              <a:spcAft>
                <a:spcPts val="240"/>
              </a:spcAft>
              <a:defRPr sz="1650">
                <a:solidFill>
                  <a:srgbClr val="182025"/>
                </a:solidFill>
                <a:latin typeface="Arial"/>
              </a:defRPr>
            </a:pPr>
            <a:r>
              <a:t>Correction audit：保留 raw、corrected、证据词和 accept/reject/review 决策。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025"/>
                </a:solidFill>
                <a:latin typeface="Arial"/>
              </a:rPr>
              <a:t>网页 MVP：让用户看到“哪句话被改了”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Demo 已部署到 Hugging Face Docker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3949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3152" cy="1170432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0253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改前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68296"/>
            <a:ext cx="5074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Good day ... welcome to the CIFI Technologies Financial Results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53949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246120"/>
            <a:ext cx="73152" cy="1170432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37413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改后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739896"/>
            <a:ext cx="5074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Good day ... welcome to the Sify Technologies Financial Results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17720"/>
            <a:ext cx="5394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617720"/>
            <a:ext cx="73152" cy="82296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74573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证据词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11149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Sify Technologies | non-GAAP | IFRS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19"/>
            <a:ext cx="4892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默认样本：Earnings-22 真实财报电话，多说话人。</a:t>
            </a:r>
          </a:p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用户可以播放音频，也能看到 raw → corrected 对照。</a:t>
            </a:r>
          </a:p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其他 AMI/AISHELL 样本保留为 speaker/overlap EvidenceMap 示例。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82803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0796F"/>
                </a:solidFill>
                <a:latin typeface="Arial"/>
              </a:rPr>
              <a:t>https://fyangmie-talkweaver.hf.space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025"/>
                </a:solidFill>
                <a:latin typeface="Arial"/>
              </a:rPr>
              <a:t>真实公开数据验证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主张来自仓库已有 CSV/文档；不把 controlled 结果当真实泛化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651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73152" cy="132588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0253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FLEURS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68296"/>
            <a:ext cx="23317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30 clips
中/英/法 read speech
多语言 ASR sanity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874519"/>
            <a:ext cx="2651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008" y="1874519"/>
            <a:ext cx="73152" cy="132588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200253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368296"/>
            <a:ext cx="23317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8 formal + 24 held-out
英语会议
ASR + diarization +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1874519"/>
            <a:ext cx="2651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45936" y="1874519"/>
            <a:ext cx="73152" cy="13258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200253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AISHELL-4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368296"/>
            <a:ext cx="23317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60 × 20s
普通话会议
ASR + DER/JER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4" y="1874519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874519"/>
            <a:ext cx="73152" cy="1325880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2002536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Earnings-22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368296"/>
            <a:ext cx="201167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财报电话
RAG 专有词修正
blind/smoke subsets</a:t>
            </a:r>
          </a:p>
        </p:txBody>
      </p:sp>
      <p:pic>
        <p:nvPicPr>
          <p:cNvPr id="22" name="Picture 21" descr="asr_error_by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57600"/>
            <a:ext cx="4983480" cy="2057400"/>
          </a:xfrm>
          <a:prstGeom prst="rect">
            <a:avLst/>
          </a:prstGeom>
        </p:spPr>
      </p:pic>
      <p:pic>
        <p:nvPicPr>
          <p:cNvPr id="23" name="Picture 22" descr="asr_error_by_langu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657600"/>
            <a:ext cx="4983480" cy="2057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025"/>
                </a:solidFill>
                <a:latin typeface="Arial"/>
              </a:rPr>
              <a:t>说话人/重叠证据：会议难点不只是文字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pyannote 能提供有效 speaker-time evidence，但 overlap 仍然困难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3152" cy="96012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02536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AMI held-out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6829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8541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0796F"/>
                </a:solidFill>
                <a:latin typeface="Arial"/>
              </a:rPr>
              <a:t>DER 0.106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32887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JER 0.307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874519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874519"/>
            <a:ext cx="73152" cy="9601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002536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AMI overlap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6829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8541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B7791F"/>
                </a:solidFill>
                <a:latin typeface="Arial"/>
              </a:rPr>
              <a:t>F1 0.490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532887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重叠仍难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874519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6440" y="1874519"/>
            <a:ext cx="73152" cy="960120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7607" y="2002536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AISHELL-4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7" y="236829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218541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B23B3B"/>
                </a:solidFill>
                <a:latin typeface="Arial"/>
              </a:rPr>
              <a:t>DER 0.327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7607" y="2532887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JER 0.713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1874519"/>
            <a:ext cx="2651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6760" y="1874519"/>
            <a:ext cx="73152" cy="96012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7928" y="200253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Interruption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8" y="236829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218541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F6F8F"/>
                </a:solidFill>
                <a:latin typeface="Arial"/>
              </a:rPr>
              <a:t>10/10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2532887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候选窗口人工确认</a:t>
            </a:r>
          </a:p>
        </p:txBody>
      </p:sp>
      <p:pic>
        <p:nvPicPr>
          <p:cNvPr id="30" name="Picture 29" descr="workflow_ablation_complet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37560"/>
            <a:ext cx="4937760" cy="2240280"/>
          </a:xfrm>
          <a:prstGeom prst="rect">
            <a:avLst/>
          </a:prstGeom>
        </p:spPr>
      </p:pic>
      <p:pic>
        <p:nvPicPr>
          <p:cNvPr id="31" name="Picture 30" descr="workflow_ablation_review_fl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337560"/>
            <a:ext cx="4937760" cy="22402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025"/>
                </a:solidFill>
                <a:latin typeface="Arial"/>
              </a:rPr>
              <a:t>RAG 专有词恢复：有效，但必须保守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贡献线不是泛化改写，而是 evidence-backed term rescue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3152" cy="100584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0253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典型修正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6829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CIFI Technologies → Sify Technologies
non-gap → non-GAAP
IFR → IFRS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74519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874519"/>
            <a:ext cx="73152" cy="100584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002536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Earnings-22 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368296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base term recall
0.833333 → 1.000000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874519"/>
            <a:ext cx="3474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874519"/>
            <a:ext cx="73152" cy="100584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2002536"/>
            <a:ext cx="3154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2368296"/>
            <a:ext cx="3154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WER 保持 0.212099 不变
不是整体 ASR 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51663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700">
                <a:solidFill>
                  <a:srgbClr val="182025"/>
                </a:solidFill>
                <a:latin typeface="Arial"/>
              </a:defRPr>
            </a:pPr>
            <a:r>
              <a:t>v2 说明 RAG 可以帮助弱 ASR，但也会伤害强 ASR。</a:t>
            </a:r>
          </a:p>
          <a:p>
            <a:pPr>
              <a:spcAft>
                <a:spcPts val="240"/>
              </a:spcAft>
              <a:defRPr sz="1700">
                <a:solidFill>
                  <a:srgbClr val="182025"/>
                </a:solidFill>
                <a:latin typeface="Arial"/>
              </a:defRPr>
            </a:pPr>
            <a:r>
              <a:t>v3 加安全门控：弱证据不改，常见词不乱映射为公司名。</a:t>
            </a:r>
          </a:p>
          <a:p>
            <a:pPr>
              <a:spcAft>
                <a:spcPts val="240"/>
              </a:spcAft>
              <a:defRPr sz="1700">
                <a:solidFill>
                  <a:srgbClr val="182025"/>
                </a:solidFill>
                <a:latin typeface="Arial"/>
              </a:defRPr>
            </a:pPr>
            <a:r>
              <a:t>网页主 demo 用 Earnings-22 多说话人电话展示可播放术语修正。</a:t>
            </a:r>
          </a:p>
        </p:txBody>
      </p:sp>
      <p:pic>
        <p:nvPicPr>
          <p:cNvPr id="19" name="Picture 18" descr="term_rescue_f1_by_var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46120"/>
            <a:ext cx="4754880" cy="2240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025"/>
                </a:solidFill>
                <a:latin typeface="Arial"/>
              </a:rPr>
              <a:t>安全审计与负结果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论文价值来自诚实地区分正结果、controlled 结果和失败风险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idence_gate_feature_set_macro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74519"/>
            <a:ext cx="4892040" cy="2148840"/>
          </a:xfrm>
          <a:prstGeom prst="rect">
            <a:avLst/>
          </a:prstGeom>
        </p:spPr>
      </p:pic>
      <p:pic>
        <p:nvPicPr>
          <p:cNvPr id="7" name="Picture 6" descr="evidence_gate_feature_set_unsafe_ac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74519"/>
            <a:ext cx="4892040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343400"/>
            <a:ext cx="10424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700">
                <a:solidFill>
                  <a:srgbClr val="182025"/>
                </a:solidFill>
                <a:latin typeface="Arial"/>
              </a:defRPr>
            </a:pPr>
            <a:r>
              <a:t>EvidenceGate 独立 held-out macro F1 仅约 0.325：不能主张已泛化。</a:t>
            </a:r>
          </a:p>
          <a:p>
            <a:pPr>
              <a:spcAft>
                <a:spcPts val="240"/>
              </a:spcAft>
              <a:defRPr sz="1700">
                <a:solidFill>
                  <a:srgbClr val="182025"/>
                </a:solidFill>
                <a:latin typeface="Arial"/>
              </a:defRPr>
            </a:pPr>
            <a:r>
              <a:t>Controlled overlap safety 支持设计动机，但不能当真实会议性能。</a:t>
            </a:r>
          </a:p>
          <a:p>
            <a:pPr>
              <a:spcAft>
                <a:spcPts val="240"/>
              </a:spcAft>
              <a:defRPr sz="1700">
                <a:solidFill>
                  <a:srgbClr val="182025"/>
                </a:solidFill>
                <a:latin typeface="Arial"/>
              </a:defRPr>
            </a:pPr>
            <a:r>
              <a:t>手机真机部署未完成；whisper.cpp 是 Level 1 local-machine benchmark。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025"/>
                </a:solidFill>
                <a:latin typeface="Arial"/>
              </a:rPr>
              <a:t>结论与下一步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TalkWeaver 的重点是可审计，不是宣称 SOTA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182880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0253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最强结论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68296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真实会议/电话转写需要 evidence map。TalkWeaver 能把 ASR、speaker、overlap、RAG、audit 组织成可检查结果。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73152" cy="18288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00253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当前限制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68296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不是 SOTA；真实样本仍小；RAG 只稳定支持术语恢复；EvidenceGate 泛化仍弱。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74519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74519"/>
            <a:ext cx="73152" cy="182880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00253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368296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扩大 held-out；增加真实人工标签；做真机移动 benchmark；完善论文和视频叙事。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0796F"/>
                </a:solidFill>
                <a:latin typeface="Arial"/>
              </a:rPr>
              <a:t>Demo: https://fyangmie-talkweaver.hf.space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3892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82025"/>
                </a:solidFill>
                <a:latin typeface="Arial"/>
              </a:rPr>
              <a:t>一句话：让混乱会议转写从“相信模型”变成“检查证据”。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