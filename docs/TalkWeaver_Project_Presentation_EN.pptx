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796F"/>
                </a:solidFill>
                <a:latin typeface="Arial"/>
              </a:rPr>
              <a:t>AI Meeting Detective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182025"/>
                </a:solidFill>
                <a:latin typeface="Arial"/>
              </a:rPr>
              <a:t>TalkWeaver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29968"/>
            <a:ext cx="10424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2025"/>
                </a:solidFill>
                <a:latin typeface="Arial"/>
              </a:rPr>
              <a:t>Evidence-Grounded Conversation Maps for Chaotic Multi-Speaker 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52928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8656E"/>
                </a:solidFill>
                <a:latin typeface="Arial"/>
              </a:rPr>
              <a:t>A research system for overlap, interruptions, misheard domain terms, speaker-time evidence, and correction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02336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4023360"/>
            <a:ext cx="73152" cy="91440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41513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51713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https://fyangmie-talkweaver.hf.space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402336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4023360"/>
            <a:ext cx="73152" cy="91440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41513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Main Demo 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451713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Earnings-22 multi-speaker term correction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4023360"/>
            <a:ext cx="3154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71231" y="4023360"/>
            <a:ext cx="73152" cy="9144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1513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Core Framing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51713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Not a generic meeting summarizer; an evidence-auditing framework.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025"/>
                </a:solidFill>
                <a:latin typeface="Arial"/>
              </a:rPr>
              <a:t>Motivation: Meeting Transcription Is Not Just 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Speakers, overlap, low-energy speech, domain terms, and LLM edits interact.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52120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750">
                <a:solidFill>
                  <a:srgbClr val="182025"/>
                </a:solidFill>
                <a:latin typeface="Arial"/>
              </a:defRPr>
            </a:pPr>
            <a:r>
              <a:t>A fluent transcript can still hide who spoke, when it was said, and whether a correction is justified.</a:t>
            </a:r>
          </a:p>
          <a:p>
            <a:pPr>
              <a:spcAft>
                <a:spcPts val="240"/>
              </a:spcAft>
              <a:defRPr sz="1750">
                <a:solidFill>
                  <a:srgbClr val="182025"/>
                </a:solidFill>
                <a:latin typeface="Arial"/>
              </a:defRPr>
            </a:pPr>
            <a:r>
              <a:t>Chaotic meetings introduce speaker-boundary errors, overlap, interruptions, low-confidence speech, and domain-term misrecognition.</a:t>
            </a:r>
          </a:p>
          <a:p>
            <a:pPr>
              <a:spcAft>
                <a:spcPts val="240"/>
              </a:spcAft>
              <a:defRPr sz="1750">
                <a:solidFill>
                  <a:srgbClr val="182025"/>
                </a:solidFill>
                <a:latin typeface="Arial"/>
              </a:defRPr>
            </a:pPr>
            <a:r>
              <a:t>LLM post-processing can make text look cleaner while silently adding unsupported edits.</a:t>
            </a:r>
          </a:p>
          <a:p>
            <a:pPr>
              <a:spcAft>
                <a:spcPts val="240"/>
              </a:spcAft>
              <a:defRPr sz="1750">
                <a:solidFill>
                  <a:srgbClr val="182025"/>
                </a:solidFill>
                <a:latin typeface="Arial"/>
              </a:defRPr>
            </a:pPr>
            <a:r>
              <a:t>TalkWeaver treats meeting transcription as an evidence-grounded auditing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920240"/>
            <a:ext cx="73152" cy="96012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0482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FLEURS zh-CN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41401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2311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0796F"/>
                </a:solidFill>
                <a:latin typeface="Arial"/>
              </a:rPr>
              <a:t>CER 0.113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57860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read speech, 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92024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0" y="1920240"/>
            <a:ext cx="73152" cy="960120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8" y="204825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AISHELL-4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241401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22311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B23B3B"/>
                </a:solidFill>
                <a:latin typeface="Arial"/>
              </a:rPr>
              <a:t>CER 0.537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257860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meeting speech, 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4612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46120"/>
            <a:ext cx="73152" cy="9601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37413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AMI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73989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55701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B7791F"/>
                </a:solidFill>
                <a:latin typeface="Arial"/>
              </a:rPr>
              <a:t>WER 0.398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904487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formal meeting, 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324612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3246120"/>
            <a:ext cx="73152" cy="96012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3374136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3739896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355701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F6F8F"/>
                </a:solidFill>
                <a:latin typeface="Arial"/>
              </a:rPr>
              <a:t>Read speech != meetings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3904487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evidence is needed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025"/>
                </a:solidFill>
                <a:latin typeface="Arial"/>
              </a:rPr>
              <a:t>Research Questions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From automatic text rewriting to evidence-aware transcript auditing.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73152" cy="123444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4825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14016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Can speaker-time structure make transcripts more auditable?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92024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920240"/>
            <a:ext cx="73152" cy="123444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204825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414016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Can overlap-aware uncertainty reduce unsafe correction?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92024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920240"/>
            <a:ext cx="73152" cy="123444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4825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414016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Can RAG glossary retrieval recover domain terms?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192024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1920240"/>
            <a:ext cx="73152" cy="1234440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20482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RQ4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414016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What is the local ASR speed/quality trade-off?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749039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750">
                <a:solidFill>
                  <a:srgbClr val="182025"/>
                </a:solidFill>
                <a:latin typeface="Arial"/>
              </a:defRPr>
            </a:pPr>
            <a:r>
              <a:t>Contribution 1: Temporal-anchor ConversationMap for ASR, speaker, time, overlap, retrieved terms, and audit trails.</a:t>
            </a:r>
          </a:p>
          <a:p>
            <a:pPr>
              <a:spcAft>
                <a:spcPts val="240"/>
              </a:spcAft>
              <a:defRPr sz="1750">
                <a:solidFill>
                  <a:srgbClr val="182025"/>
                </a:solidFill>
                <a:latin typeface="Arial"/>
              </a:defRPr>
            </a:pPr>
            <a:r>
              <a:t>Contribution 2: Conservative RAG-based term recovery with evidence gates and review routing.</a:t>
            </a:r>
          </a:p>
          <a:p>
            <a:pPr>
              <a:spcAft>
                <a:spcPts val="240"/>
              </a:spcAft>
              <a:defRPr sz="1750">
                <a:solidFill>
                  <a:srgbClr val="182025"/>
                </a:solidFill>
                <a:latin typeface="Arial"/>
              </a:defRPr>
            </a:pPr>
            <a:r>
              <a:t>Contribution 3: Safety-centered evaluation that separates real public data, controlled stress tests, demos, and negative results.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025"/>
                </a:solidFill>
                <a:latin typeface="Arial"/>
              </a:rPr>
              <a:t>System Architecture: From Audio to EvidenceMap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Every stage preserves inputs, outputs, timestamps, and provenance.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4983480" cy="19653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1874519"/>
            <a:ext cx="53035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590">
                <a:solidFill>
                  <a:srgbClr val="182025"/>
                </a:solidFill>
                <a:latin typeface="Arial"/>
              </a:defRPr>
            </a:pPr>
            <a:r>
              <a:t>Audio preprocessing: standardize sample rate, channels, and volume.</a:t>
            </a:r>
          </a:p>
          <a:p>
            <a:pPr>
              <a:spcAft>
                <a:spcPts val="240"/>
              </a:spcAft>
              <a:defRPr sz="1590">
                <a:solidFill>
                  <a:srgbClr val="182025"/>
                </a:solidFill>
                <a:latin typeface="Arial"/>
              </a:defRPr>
            </a:pPr>
            <a:r>
              <a:t>ASR: faster-whisper / whisper.cpp / deterministic mock fallback.</a:t>
            </a:r>
          </a:p>
          <a:p>
            <a:pPr>
              <a:spcAft>
                <a:spcPts val="240"/>
              </a:spcAft>
              <a:defRPr sz="1590">
                <a:solidFill>
                  <a:srgbClr val="182025"/>
                </a:solidFill>
                <a:latin typeface="Arial"/>
              </a:defRPr>
            </a:pPr>
            <a:r>
              <a:t>Diarization: pyannote or reference speaker-time evidence.</a:t>
            </a:r>
          </a:p>
          <a:p>
            <a:pPr>
              <a:spcAft>
                <a:spcPts val="240"/>
              </a:spcAft>
              <a:defRPr sz="1590">
                <a:solidFill>
                  <a:srgbClr val="182025"/>
                </a:solidFill>
                <a:latin typeface="Arial"/>
              </a:defRPr>
            </a:pPr>
            <a:r>
              <a:t>Overlap and event extraction: flag overlap, interruption candidates, and low-confidence regions.</a:t>
            </a:r>
          </a:p>
          <a:p>
            <a:pPr>
              <a:spcAft>
                <a:spcPts val="240"/>
              </a:spcAft>
              <a:defRPr sz="1590">
                <a:solidFill>
                  <a:srgbClr val="182025"/>
                </a:solidFill>
                <a:latin typeface="Arial"/>
              </a:defRPr>
            </a:pPr>
            <a:r>
              <a:t>RAG term rescue: retrieve domain terms, company names, and financial terminology.</a:t>
            </a:r>
          </a:p>
          <a:p>
            <a:pPr>
              <a:spcAft>
                <a:spcPts val="240"/>
              </a:spcAft>
              <a:defRPr sz="1590">
                <a:solidFill>
                  <a:srgbClr val="182025"/>
                </a:solidFill>
                <a:latin typeface="Arial"/>
              </a:defRPr>
            </a:pPr>
            <a:r>
              <a:t>Correction audit: preserve raw text, corrected text, evidence terms, and accept/reject/review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025"/>
                </a:solidFill>
                <a:latin typeface="Arial"/>
              </a:rPr>
              <a:t>Web MVP: Show Exactly 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The deployed demo makes the correction evidence visible to non-expert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3949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3152" cy="1170432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0253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68296"/>
            <a:ext cx="5074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Good day ... welcome to the CIFI Technologies Financial Results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53949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46120"/>
            <a:ext cx="73152" cy="1170432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37413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739896"/>
            <a:ext cx="5074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Good day ... welcome to the Sify Technologies Financial Results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17720"/>
            <a:ext cx="5394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617720"/>
            <a:ext cx="73152" cy="82296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745736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Evidence Terms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11149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Sify Technologies | non-GAAP | IFRS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19"/>
            <a:ext cx="4892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Default clip: real Earnings-22 financial-results call with multiple speakers.</a:t>
            </a:r>
          </a:p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Users can play the audio and inspect raw-to-corrected changes.</a:t>
            </a:r>
          </a:p>
          <a:p>
            <a:pPr>
              <a:spcAft>
                <a:spcPts val="240"/>
              </a:spcAft>
              <a:defRPr sz="1800">
                <a:solidFill>
                  <a:srgbClr val="182025"/>
                </a:solidFill>
                <a:latin typeface="Arial"/>
              </a:defRPr>
            </a:pPr>
            <a:r>
              <a:t>AMI/AISHELL examples remain available for speaker and overlap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82803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0796F"/>
                </a:solidFill>
                <a:latin typeface="Arial"/>
              </a:rPr>
              <a:t>https://fyangmie-talkweaver.hf.space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025"/>
                </a:solidFill>
                <a:latin typeface="Arial"/>
              </a:rPr>
              <a:t>Real Public-Data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Reported claims come from existing CSVs and docs; controlled tests are not treated as real-world generalization.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651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73152" cy="132588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0253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FLEURS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68296"/>
            <a:ext cx="23317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30 clips
en/fr/zh-CN read speech
multilingual ASR sanity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874519"/>
            <a:ext cx="2651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3008" y="1874519"/>
            <a:ext cx="73152" cy="132588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200253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368296"/>
            <a:ext cx="23317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8 formal + 24 held-out
English meetings
ASR + diarization + maps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1874519"/>
            <a:ext cx="2651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45936" y="1874519"/>
            <a:ext cx="73152" cy="13258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00253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AISHELL-4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368296"/>
            <a:ext cx="23317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60 × 20s
Mandarin meetings
ASR + DER/JER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4" y="1874519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874519"/>
            <a:ext cx="73152" cy="1325880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2002536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Earnings-22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368296"/>
            <a:ext cx="201167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financial calls
RAG term correction
blind/smoke subsets</a:t>
            </a:r>
          </a:p>
        </p:txBody>
      </p:sp>
      <p:pic>
        <p:nvPicPr>
          <p:cNvPr id="22" name="Picture 21" descr="asr_error_by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57600"/>
            <a:ext cx="4983480" cy="2057400"/>
          </a:xfrm>
          <a:prstGeom prst="rect">
            <a:avLst/>
          </a:prstGeom>
        </p:spPr>
      </p:pic>
      <p:pic>
        <p:nvPicPr>
          <p:cNvPr id="23" name="Picture 22" descr="asr_error_by_langu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657600"/>
            <a:ext cx="4983480" cy="2057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025"/>
                </a:solidFill>
                <a:latin typeface="Arial"/>
              </a:rPr>
              <a:t>Speaker and Overlap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Diarization is useful, but overlap remains a major source of uncertainty.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3152" cy="96012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02536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AMI held-out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6829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854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0796F"/>
                </a:solidFill>
                <a:latin typeface="Arial"/>
              </a:rPr>
              <a:t>DER 0.106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32887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JER 0.307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874519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874519"/>
            <a:ext cx="73152" cy="9601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002536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AMI overlap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6829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1854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B7791F"/>
                </a:solidFill>
                <a:latin typeface="Arial"/>
              </a:rPr>
              <a:t>F1 0.490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532887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still difficult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874519"/>
            <a:ext cx="2286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1874519"/>
            <a:ext cx="73152" cy="960120"/>
          </a:xfrm>
          <a:prstGeom prst="rect">
            <a:avLst/>
          </a:prstGeom>
          <a:solidFill>
            <a:srgbClr val="B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7" y="2002536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AISHELL-4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7" y="236829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21854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B23B3B"/>
                </a:solidFill>
                <a:latin typeface="Arial"/>
              </a:rPr>
              <a:t>DER 0.327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7607" y="2532887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JER 0.713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1874519"/>
            <a:ext cx="2651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6760" y="1874519"/>
            <a:ext cx="73152" cy="96012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200253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Interruption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236829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218541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F6F8F"/>
                </a:solidFill>
                <a:latin typeface="Arial"/>
              </a:rPr>
              <a:t>10/10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2532887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56E"/>
                </a:solidFill>
                <a:latin typeface="Arial"/>
              </a:rPr>
              <a:t>candidate windows verified</a:t>
            </a:r>
          </a:p>
        </p:txBody>
      </p:sp>
      <p:pic>
        <p:nvPicPr>
          <p:cNvPr id="30" name="Picture 29" descr="workflow_ablation_complet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37560"/>
            <a:ext cx="4937760" cy="2240280"/>
          </a:xfrm>
          <a:prstGeom prst="rect">
            <a:avLst/>
          </a:prstGeom>
        </p:spPr>
      </p:pic>
      <p:pic>
        <p:nvPicPr>
          <p:cNvPr id="31" name="Picture 30" descr="workflow_ablation_review_fl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337560"/>
            <a:ext cx="4937760" cy="22402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025"/>
                </a:solidFill>
                <a:latin typeface="Arial"/>
              </a:rPr>
              <a:t>RAG Term Recovery: Useful, but Must Be Conservative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The contribution is evidence-backed term rescue, not unrestricted transcript rewriting.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3152" cy="100584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0253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Typical Fixes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6829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CIFI Technologies → Sify Technologies
non-gap → non-GAAP
IFR → IFRS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74519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874519"/>
            <a:ext cx="73152" cy="100584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002536"/>
            <a:ext cx="2880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Earnings-22 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368296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base term recall
0.833333 → 1.000000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874519"/>
            <a:ext cx="3474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874519"/>
            <a:ext cx="73152" cy="100584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2002536"/>
            <a:ext cx="3154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2368296"/>
            <a:ext cx="3154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WER unchanged at 0.212099
not a general ASR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51663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680">
                <a:solidFill>
                  <a:srgbClr val="182025"/>
                </a:solidFill>
                <a:latin typeface="Arial"/>
              </a:defRPr>
            </a:pPr>
            <a:r>
              <a:t>v2 showed that RAG can help weaker ASR but can harm stronger ASR.</a:t>
            </a:r>
          </a:p>
          <a:p>
            <a:pPr>
              <a:spcAft>
                <a:spcPts val="240"/>
              </a:spcAft>
              <a:defRPr sz="1680">
                <a:solidFill>
                  <a:srgbClr val="182025"/>
                </a:solidFill>
                <a:latin typeface="Arial"/>
              </a:defRPr>
            </a:pPr>
            <a:r>
              <a:t>v3 adds safety gates: weak evidence is not applied; common words are not blindly mapped to company names.</a:t>
            </a:r>
          </a:p>
          <a:p>
            <a:pPr>
              <a:spcAft>
                <a:spcPts val="240"/>
              </a:spcAft>
              <a:defRPr sz="1680">
                <a:solidFill>
                  <a:srgbClr val="182025"/>
                </a:solidFill>
                <a:latin typeface="Arial"/>
              </a:defRPr>
            </a:pPr>
            <a:r>
              <a:t>The web demo uses Earnings-22 to show playable, evidence-backed term correction.</a:t>
            </a:r>
          </a:p>
        </p:txBody>
      </p:sp>
      <p:pic>
        <p:nvPicPr>
          <p:cNvPr id="19" name="Picture 18" descr="term_rescue_f1_by_var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46120"/>
            <a:ext cx="4754880" cy="2240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025"/>
                </a:solidFill>
                <a:latin typeface="Arial"/>
              </a:rPr>
              <a:t>Safety Audits and Negative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The paper should be honest about what works, what is controlled, and what fails.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idence_gate_feature_set_macro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74519"/>
            <a:ext cx="4892040" cy="2148840"/>
          </a:xfrm>
          <a:prstGeom prst="rect">
            <a:avLst/>
          </a:prstGeom>
        </p:spPr>
      </p:pic>
      <p:pic>
        <p:nvPicPr>
          <p:cNvPr id="7" name="Picture 6" descr="evidence_gate_feature_set_unsafe_ac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874519"/>
            <a:ext cx="4892040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343400"/>
            <a:ext cx="10424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700">
                <a:solidFill>
                  <a:srgbClr val="182025"/>
                </a:solidFill>
                <a:latin typeface="Arial"/>
              </a:defRPr>
            </a:pPr>
            <a:r>
              <a:t>EvidenceGate independent held-out macro F1 is only about 0.325: no strong generalization claim.</a:t>
            </a:r>
          </a:p>
          <a:p>
            <a:pPr>
              <a:spcAft>
                <a:spcPts val="240"/>
              </a:spcAft>
              <a:defRPr sz="1700">
                <a:solidFill>
                  <a:srgbClr val="182025"/>
                </a:solidFill>
                <a:latin typeface="Arial"/>
              </a:defRPr>
            </a:pPr>
            <a:r>
              <a:t>Controlled overlap safety supports the design, but it is not real meeting performance.</a:t>
            </a:r>
          </a:p>
          <a:p>
            <a:pPr>
              <a:spcAft>
                <a:spcPts val="240"/>
              </a:spcAft>
              <a:defRPr sz="1700">
                <a:solidFill>
                  <a:srgbClr val="182025"/>
                </a:solidFill>
                <a:latin typeface="Arial"/>
              </a:defRPr>
            </a:pPr>
            <a:r>
              <a:t>Mobile deployment is not complete; whisper.cpp is a Level 1 local-machine benchmark.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796F"/>
                </a:solidFill>
                <a:latin typeface="Arial"/>
              </a:rPr>
              <a:t>TalkWeaver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82025"/>
                </a:solidFill>
                <a:latin typeface="Arial"/>
              </a:rPr>
              <a:t>Conclusion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8656E"/>
                </a:solidFill>
                <a:latin typeface="Arial"/>
              </a:rPr>
              <a:t>TalkWeaver is about auditability, not state-of-the-art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11064240" cy="18288"/>
          </a:xfrm>
          <a:prstGeom prst="rect">
            <a:avLst/>
          </a:prstGeom>
          <a:solidFill>
            <a:srgbClr val="D8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1828800"/>
          </a:xfrm>
          <a:prstGeom prst="rect">
            <a:avLst/>
          </a:prstGeom>
          <a:solidFill>
            <a:srgbClr val="10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0253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Strongest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68296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Real meeting and call transcription benefits from an EvidenceMap that links ASR, speakers, overlap, RAG, and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73152" cy="18288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002536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Current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68296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Not SOTA; real subsets are small; RAG mainly supports term recovery; EvidenceGate generalization remains weak.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74519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74519"/>
            <a:ext cx="73152" cy="182880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00253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82025"/>
                </a:solidFill>
                <a:latin typeface="Arial"/>
              </a:rPr>
              <a:t>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368296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8656E"/>
                </a:solidFill>
                <a:latin typeface="Arial"/>
              </a:rPr>
              <a:t>Larger held-out evaluation, human labels, true mobile benchmark, and paper/video polishing.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0796F"/>
                </a:solidFill>
                <a:latin typeface="Arial"/>
              </a:rPr>
              <a:t>Demo: https://fyangmie-talkweaver.hf.space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3892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82025"/>
                </a:solidFill>
                <a:latin typeface="Arial"/>
              </a:rPr>
              <a:t>One-line takeaway: move from trusting fluent transcripts to inspecting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>
                <a:solidFill>
                  <a:srgbClr val="58656E"/>
                </a:solidFill>
                <a:latin typeface="Arial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